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embeddedFontLst>
    <p:embeddedFont>
      <p:font typeface="DM Sans" pitchFamily="2" charset="-94"/>
      <p:regular r:id="rId15"/>
      <p:bold r:id="rId16"/>
      <p:italic r:id="rId17"/>
      <p:boldItalic r:id="rId18"/>
    </p:embeddedFont>
    <p:embeddedFont>
      <p:font typeface="DM Sans Medium" pitchFamily="2" charset="-94"/>
      <p:regular r:id="rId19"/>
      <p:bold r:id="rId20"/>
      <p:italic r:id="rId21"/>
      <p:boldItalic r:id="rId22"/>
    </p:embeddedFont>
    <p:embeddedFont>
      <p:font typeface="Merriweather" panose="00000500000000000000" pitchFamily="2" charset="-94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049575-8C29-423A-85FD-2A02914A80F5}">
  <a:tblStyle styleId="{96049575-8C29-423A-85FD-2A02914A80F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65296" y="1801266"/>
            <a:ext cx="1126140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Görsel Üzerinden Araç Hasar Tahmini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370659" y="2706141"/>
            <a:ext cx="545068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Derin </a:t>
            </a:r>
            <a:r>
              <a:rPr lang="en-US" sz="2400" b="0" i="0" u="none" strike="noStrike" cap="none" dirty="0" err="1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Öğrenme</a:t>
            </a:r>
            <a:r>
              <a:rPr lang="en-US" sz="2400" b="0" i="0" u="none" strike="noStrike" cap="none" dirty="0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Modeli</a:t>
            </a:r>
            <a:r>
              <a:rPr lang="en-US" sz="2400" b="0" i="0" u="none" strike="noStrike" cap="none" dirty="0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Eğitimi</a:t>
            </a:r>
            <a:r>
              <a:rPr lang="en-US" sz="2400" b="0" i="0" u="none" strike="noStrike" cap="none" dirty="0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60A5FA"/>
                </a:solidFill>
                <a:latin typeface="DM Sans"/>
                <a:ea typeface="DM Sans"/>
                <a:cs typeface="DM Sans"/>
                <a:sym typeface="DM Sans"/>
              </a:rPr>
              <a:t>Projesi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619750" y="3677691"/>
            <a:ext cx="9525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819525" y="4096791"/>
            <a:ext cx="455295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3F0D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Seferhan KAYA</a:t>
            </a:r>
            <a:endParaRPr lang="tr-TR" sz="1800" b="0" i="0" u="none" strike="noStrike" cap="none" dirty="0">
              <a:solidFill>
                <a:srgbClr val="F3F0D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dirty="0">
                <a:solidFill>
                  <a:srgbClr val="F3F0D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22120205048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tr-TR" sz="1800" dirty="0">
              <a:solidFill>
                <a:srgbClr val="F3F0D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3F0D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Dr.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Öğr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. </a:t>
            </a:r>
            <a:r>
              <a:rPr lang="en-US" sz="1800" b="0" i="0" u="none" strike="noStrike" cap="none" dirty="0" err="1">
                <a:solidFill>
                  <a:srgbClr val="F3F0D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Üyesi</a:t>
            </a:r>
            <a:r>
              <a:rPr lang="en-US" sz="1800" b="0" i="0" u="none" strike="noStrike" cap="none" dirty="0">
                <a:solidFill>
                  <a:srgbClr val="F3F0D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İshak DÖLEK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F3F0D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endParaRPr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02D16AF-7C09-E3B4-929D-24C56982E4B0}"/>
              </a:ext>
            </a:extLst>
          </p:cNvPr>
          <p:cNvSpPr txBox="1"/>
          <p:nvPr/>
        </p:nvSpPr>
        <p:spPr>
          <a:xfrm>
            <a:off x="4300185" y="860434"/>
            <a:ext cx="3591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İstanbul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Medeniyet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3F0DF"/>
                </a:solidFill>
                <a:effectLst/>
                <a:uLnTx/>
                <a:uFillTx/>
                <a:latin typeface="DM Sans Medium"/>
                <a:ea typeface="DM Sans Medium"/>
                <a:cs typeface="DM Sans Medium"/>
                <a:sym typeface="DM Sans Medium"/>
              </a:rPr>
              <a:t>Üniversitesi</a:t>
            </a:r>
            <a:endParaRPr lang="tr-TR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E8191CC4-3FCC-F73F-5514-45B04BD7A45B}"/>
              </a:ext>
            </a:extLst>
          </p:cNvPr>
          <p:cNvSpPr txBox="1"/>
          <p:nvPr/>
        </p:nvSpPr>
        <p:spPr>
          <a:xfrm>
            <a:off x="5057901" y="1361627"/>
            <a:ext cx="2076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b="0" i="0" u="none" strike="noStrike" cap="none" dirty="0">
                <a:solidFill>
                  <a:srgbClr val="F3F0D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BİL-485 Deri Öğrenme </a:t>
            </a:r>
            <a:endParaRPr lang="tr-T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1085373" y="2918519"/>
            <a:ext cx="1002125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Projenin Amacı ve Motivasyonu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381625" y="3966269"/>
            <a:ext cx="1428750" cy="762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4328219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Hasar tespiti süreçlerini otomatize ederek sigorta ve ekspertiz sektörlerinde objektif ve hızlı sonuçlar elde etmek.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1823144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38400"/>
            <a:ext cx="5286375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38400"/>
            <a:ext cx="5286375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866775" y="3371850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CNN Yaklaşımı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6775" y="3924300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Convolutional Neural Networks (CNN), görsel verileri doğrudan işleyebilme ve manuel özellik çıkarımı (feature extraction) gerektirmeme avantajı sunar.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29400" y="3371850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Verimlilik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29400" y="3924300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İnsan uzmanlar tarafından yapılan subjektif ve zaman alıcı değerlendirmeleri ortadan kaldırarak tutarlı ve ölçeklenebilir çözümler üretir.</a:t>
            </a:r>
            <a:endParaRPr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7813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27813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Neden Derin Öğrenme?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4562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>
            <a:spLocks noChangeAspect="1"/>
          </p:cNvSpPr>
          <p:nvPr/>
        </p:nvSpPr>
        <p:spPr>
          <a:xfrm>
            <a:off x="1081087" y="2724149"/>
            <a:ext cx="2314575" cy="2314575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476750" y="2706141"/>
            <a:ext cx="661082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Sınıf Dağılımı (Total: 2300 Görüntü)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476750" y="4561433"/>
            <a:ext cx="6296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*Eğitim (1840), Doğrulama (230) ve Test (230) kümeleri eşit bölünmüştür.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905375" y="3353841"/>
            <a:ext cx="5867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Hasarlı (Damaged):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1150 Görüntü (%50)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905375" y="3910012"/>
            <a:ext cx="5867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Hasarsız (Undamaged):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1150 Görüntü (%50)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Dengeli Veri Seti Dağılımı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6750" y="3353841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6750" y="3910012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7425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57425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57425"/>
            <a:ext cx="3492549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794225" y="3190875"/>
            <a:ext cx="304709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Yeniden Boyutlandırma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66775" y="41052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Tüm görüntüler standart girdi boyutuna getirilerek model uyumluluğu sağlanmıştır.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572524" y="319087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Normalizasyon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645074" y="374332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Piksel değerleri normalize edilerek eğitim sürecinin daha hızlı yakınsaması hedeflenmiştir.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350824" y="319087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Veri Artırma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423374" y="374332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Rotasyon, kaydırma ve aynalama teknikleriyle modelin genelleme yeteneği artırılmıştır.</a:t>
            </a:r>
            <a:endParaRPr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7200" y="26003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6003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7612" y="26003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Veri Ön İşleme ve Artırma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764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2114698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Bileşenleri</a:t>
            </a:r>
            <a:endParaRPr/>
          </a:p>
        </p:txBody>
      </p:sp>
      <p:pic>
        <p:nvPicPr>
          <p:cNvPr id="154" name="Google Shape;15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8596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1000125" y="2629048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Evrişim (Conv):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Hiyerarşik özellik öğrenimi.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00125" y="3232844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Havuzlama (Pooling):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Boyutsal indirgeme.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000125" y="3836640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Tam Bağlantılı: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Sınıflandırma katmanları.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00125" y="4440435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ReLU: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Aktivasyon fonksiyonu.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000125" y="5044231"/>
            <a:ext cx="48577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AdamW: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Optimizasyon algoritması.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Sıfırdan Eğitilen CNN Mimarisi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21103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24899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28695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32490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136286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71500" y="5791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Model, aşırı öğrenmeyi önlemek için doğrulama setindeki en iyi sonuçta kaydedilmiştir.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Eğitim Süreci ve Doğrulama Başarımı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Resim 2" descr="metin, ekran görüntüsü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FF34DF9-D4CF-9F0B-0E96-EA1CF7C2D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974" y="1229028"/>
            <a:ext cx="8562051" cy="43999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0" y="3886944"/>
            <a:ext cx="569595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2538263"/>
            <a:ext cx="49720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86.5%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3967013"/>
            <a:ext cx="497205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GENEL TEST DOĞRULUĞU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400800" y="1675507"/>
            <a:ext cx="57912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Yüksek Doğruluk Oranı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400800" y="2504182"/>
            <a:ext cx="5695950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Geliştirilen model, daha önce hiç görmediği test seti verileri üzerinde %86.52 oranında doğru tahmin yaparak başarısını kanıtlamıştır.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638925" y="4077444"/>
            <a:ext cx="5267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Karar Eşiği Optimizasyonu: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638925" y="4382244"/>
            <a:ext cx="5267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Eşik 0.39'a çekildiğinde Hasarlı araç tespit oranı %93.04'e ulaşmaktadır.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71500" y="4679751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Modelin Precision ve Recall değerlerinin dengeli olması, her iki sınıfın da (Hasarlı/Hasarsız) başarılı bir şekilde ayırt edildiğini gösterir.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Test Performans Analizi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70796"/>
            <a:ext cx="542925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4470796"/>
            <a:ext cx="5429250" cy="1409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5" name="Google Shape;205;p22"/>
          <p:cNvGraphicFramePr/>
          <p:nvPr>
            <p:extLst>
              <p:ext uri="{D42A27DB-BD31-4B8C-83A1-F6EECF244321}">
                <p14:modId xmlns:p14="http://schemas.microsoft.com/office/powerpoint/2010/main" val="2146521170"/>
              </p:ext>
            </p:extLst>
          </p:nvPr>
        </p:nvGraphicFramePr>
        <p:xfrm>
          <a:off x="571500" y="1882229"/>
          <a:ext cx="11039450" cy="2207550"/>
        </p:xfrm>
        <a:graphic>
          <a:graphicData uri="http://schemas.openxmlformats.org/drawingml/2006/table">
            <a:tbl>
              <a:tblPr firstRow="1" bandRow="1">
                <a:noFill/>
                <a:tableStyleId>{96049575-8C29-423A-85FD-2A02914A80F5}</a:tableStyleId>
              </a:tblPr>
              <a:tblGrid>
                <a:gridCol w="363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5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Tahmin: Hasarlı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Tahmin: Hasarsız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Gerçek: Hasarlı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6653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99 (TP)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16 (FN)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Gerçek: Hasarsız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15 (FP)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650" b="1" i="0" u="none" strike="noStrike" cap="none" dirty="0">
                          <a:solidFill>
                            <a:srgbClr val="16653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</a:t>
                      </a:r>
                      <a:r>
                        <a:rPr lang="en-US" sz="1650" b="1" i="0" u="none" strike="noStrike" cap="none" dirty="0">
                          <a:solidFill>
                            <a:srgbClr val="16653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(TN)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6" name="Google Shape;206;p22"/>
          <p:cNvSpPr txBox="1"/>
          <p:nvPr/>
        </p:nvSpPr>
        <p:spPr>
          <a:xfrm>
            <a:off x="762000" y="4889896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TP / TN: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Model toplam 199 görüntüyü tam isabetle sınıflandırmıştır.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381750" y="4889896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Hata Payı: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Yanlış tespitlerin toplamı sadece 31 örnektir.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Confusion Matrix (Hata Matrisi)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762000" y="571500"/>
            <a:ext cx="500062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Kullanıcı Arayüzü: Gradio</a:t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571500" y="571500"/>
            <a:ext cx="76200" cy="104775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219075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Eğitilen model, gerçek dünya testleri için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Gradio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kütüphanesi kullanılarak bir web arayüzüne entegre edilmiştir.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7456149" y="1645079"/>
            <a:ext cx="4524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Kolay resim yükleme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7456149" y="2248874"/>
            <a:ext cx="4524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Anlık sonuç tahmini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7456149" y="2852670"/>
            <a:ext cx="4524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Kullanıcı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dostu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dashboard</a:t>
            </a:r>
            <a:endParaRPr dirty="0"/>
          </a:p>
        </p:txBody>
      </p:sp>
      <p:pic>
        <p:nvPicPr>
          <p:cNvPr id="223" name="Google Shape;22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7524" y="176168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7524" y="236547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7524" y="2969273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Resim 1" descr="taşıt, araç, kara taşıtı, tekerlek, otomotiv tasar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9CCBCB3-75B2-9A8F-6B47-C4C7B50602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5" b="30990"/>
          <a:stretch>
            <a:fillRect/>
          </a:stretch>
        </p:blipFill>
        <p:spPr bwMode="auto">
          <a:xfrm>
            <a:off x="1595597" y="3504732"/>
            <a:ext cx="9000805" cy="32939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/>
          <p:nvPr/>
        </p:nvSpPr>
        <p:spPr>
          <a:xfrm>
            <a:off x="571500" y="270896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71500" y="349374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83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/>
        </p:nvSpPr>
        <p:spPr>
          <a:xfrm>
            <a:off x="1666875" y="285184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https://editor.analyticsvidhya.com/uploads/29624cnn_banner.png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1666875" y="309755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www.kaz-metiz.com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3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Kaynakça</a:t>
            </a:r>
            <a:endParaRPr dirty="0"/>
          </a:p>
        </p:txBody>
      </p:sp>
      <p:sp>
        <p:nvSpPr>
          <p:cNvPr id="256" name="Google Shape;256;p25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419</Words>
  <Application>Microsoft Office PowerPoint</Application>
  <PresentationFormat>Geniş ekran</PresentationFormat>
  <Paragraphs>63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8" baseType="lpstr">
      <vt:lpstr>Merriweather</vt:lpstr>
      <vt:lpstr>DM Sans Medium</vt:lpstr>
      <vt:lpstr>DM Sans</vt:lpstr>
      <vt:lpstr>Calibri</vt:lpstr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Seferhan Kaya</cp:lastModifiedBy>
  <cp:revision>6</cp:revision>
  <dcterms:modified xsi:type="dcterms:W3CDTF">2025-12-24T21:08:08Z</dcterms:modified>
</cp:coreProperties>
</file>